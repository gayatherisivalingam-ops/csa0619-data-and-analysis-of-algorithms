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Times New Roman MT Bold" charset="1" panose="02030802070405020303"/>
      <p:regular r:id="rId15"/>
    </p:embeddedFont>
    <p:embeddedFont>
      <p:font typeface="Times New Roman MT" charset="1" panose="020305020704050203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3981926" cy="10287000"/>
          </a:xfrm>
          <a:custGeom>
            <a:avLst/>
            <a:gdLst/>
            <a:ahLst/>
            <a:cxnLst/>
            <a:rect r="r" b="b" t="t" l="l"/>
            <a:pathLst>
              <a:path h="10287000" w="3981926">
                <a:moveTo>
                  <a:pt x="0" y="0"/>
                </a:moveTo>
                <a:lnTo>
                  <a:pt x="3981926" y="0"/>
                </a:lnTo>
                <a:lnTo>
                  <a:pt x="39819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99058">
            <a:off x="13556692" y="-313080"/>
            <a:ext cx="10415786" cy="12060384"/>
          </a:xfrm>
          <a:custGeom>
            <a:avLst/>
            <a:gdLst/>
            <a:ahLst/>
            <a:cxnLst/>
            <a:rect r="r" b="b" t="t" l="l"/>
            <a:pathLst>
              <a:path h="12060384" w="10415786">
                <a:moveTo>
                  <a:pt x="0" y="0"/>
                </a:moveTo>
                <a:lnTo>
                  <a:pt x="10415787" y="0"/>
                </a:lnTo>
                <a:lnTo>
                  <a:pt x="10415787" y="12060384"/>
                </a:lnTo>
                <a:lnTo>
                  <a:pt x="0" y="120603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0"/>
            <a:ext cx="18288000" cy="1634777"/>
          </a:xfrm>
          <a:custGeom>
            <a:avLst/>
            <a:gdLst/>
            <a:ahLst/>
            <a:cxnLst/>
            <a:rect r="r" b="b" t="t" l="l"/>
            <a:pathLst>
              <a:path h="1634777" w="18288000">
                <a:moveTo>
                  <a:pt x="0" y="0"/>
                </a:moveTo>
                <a:lnTo>
                  <a:pt x="18288000" y="0"/>
                </a:lnTo>
                <a:lnTo>
                  <a:pt x="18288000" y="1634777"/>
                </a:lnTo>
                <a:lnTo>
                  <a:pt x="0" y="16347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844" r="0" b="-1849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32339" y="3809364"/>
            <a:ext cx="15835832" cy="1087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8"/>
              </a:lnSpc>
            </a:pPr>
            <a:r>
              <a:rPr lang="en-US" b="true" sz="2948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MASTER THEOREM FOR NON-LINEAR RECURRENCE CONSIDER THE RECURRENCE RELATION T(N) 5T(N/2) + N².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314390" y="6764989"/>
            <a:ext cx="3476149" cy="1847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5"/>
              </a:lnSpc>
            </a:pPr>
            <a:r>
              <a:rPr lang="en-US" sz="33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PRESENTED BY </a:t>
            </a:r>
          </a:p>
          <a:p>
            <a:pPr algn="ctr">
              <a:lnSpc>
                <a:spcPts val="4725"/>
              </a:lnSpc>
            </a:pPr>
            <a:r>
              <a:rPr lang="en-US" sz="33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S.GAYATHERI </a:t>
            </a:r>
          </a:p>
          <a:p>
            <a:pPr algn="ctr">
              <a:lnSpc>
                <a:spcPts val="4725"/>
              </a:lnSpc>
              <a:spcBef>
                <a:spcPct val="0"/>
              </a:spcBef>
            </a:pPr>
            <a:r>
              <a:rPr lang="en-US" sz="33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192521306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90963" y="7077739"/>
            <a:ext cx="5988705" cy="1535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1"/>
              </a:lnSpc>
            </a:pPr>
            <a:r>
              <a:rPr lang="en-US" sz="282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GUIDED BY </a:t>
            </a:r>
          </a:p>
          <a:p>
            <a:pPr algn="ctr">
              <a:lnSpc>
                <a:spcPts val="3961"/>
              </a:lnSpc>
            </a:pPr>
            <a:r>
              <a:rPr lang="en-US" sz="282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DR MARY HARIN FERNANDEZ F</a:t>
            </a:r>
          </a:p>
          <a:p>
            <a:pPr algn="ctr">
              <a:lnSpc>
                <a:spcPts val="3961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471534" y="2675898"/>
            <a:ext cx="10957442" cy="1247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5"/>
              </a:lnSpc>
            </a:pPr>
            <a:r>
              <a:rPr lang="en-US" sz="33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CSA0613-DESIGN AND ANALYSIS OF ALGORITHMS</a:t>
            </a:r>
          </a:p>
          <a:p>
            <a:pPr algn="ctr">
              <a:lnSpc>
                <a:spcPts val="4725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3871459" y="5069421"/>
            <a:ext cx="12157592" cy="647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25"/>
              </a:lnSpc>
              <a:spcBef>
                <a:spcPct val="0"/>
              </a:spcBef>
            </a:pPr>
            <a:r>
              <a:rPr lang="en-US" sz="337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CO1-ASSESSMENT TOOL 03-TECHNICAL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9058">
            <a:off x="11104909" y="-873416"/>
            <a:ext cx="10737604" cy="12433015"/>
          </a:xfrm>
          <a:custGeom>
            <a:avLst/>
            <a:gdLst/>
            <a:ahLst/>
            <a:cxnLst/>
            <a:rect r="r" b="b" t="t" l="l"/>
            <a:pathLst>
              <a:path h="12433015" w="10737604">
                <a:moveTo>
                  <a:pt x="0" y="0"/>
                </a:moveTo>
                <a:lnTo>
                  <a:pt x="10737604" y="0"/>
                </a:lnTo>
                <a:lnTo>
                  <a:pt x="10737604" y="12433015"/>
                </a:lnTo>
                <a:lnTo>
                  <a:pt x="0" y="124330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009650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0" y="6748170"/>
            <a:ext cx="7077660" cy="7077660"/>
          </a:xfrm>
          <a:custGeom>
            <a:avLst/>
            <a:gdLst/>
            <a:ahLst/>
            <a:cxnLst/>
            <a:rect r="r" b="b" t="t" l="l"/>
            <a:pathLst>
              <a:path h="7077660" w="7077660">
                <a:moveTo>
                  <a:pt x="0" y="0"/>
                </a:moveTo>
                <a:lnTo>
                  <a:pt x="7077660" y="0"/>
                </a:lnTo>
                <a:lnTo>
                  <a:pt x="7077660" y="7077660"/>
                </a:lnTo>
                <a:lnTo>
                  <a:pt x="0" y="7077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92119" y="1860835"/>
            <a:ext cx="8438334" cy="1548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4"/>
              </a:lnSpc>
            </a:pPr>
            <a:r>
              <a:rPr lang="en-US" b="true" sz="8074">
                <a:solidFill>
                  <a:srgbClr val="00325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78573" y="3632033"/>
            <a:ext cx="10160257" cy="4042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8836" indent="-349418" lvl="1">
              <a:lnSpc>
                <a:spcPts val="4531"/>
              </a:lnSpc>
              <a:buFont typeface="Arial"/>
              <a:buChar char="•"/>
            </a:pPr>
            <a:r>
              <a:rPr lang="en-US" sz="323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Divide and Conquer algorithms use recurrence relations.</a:t>
            </a:r>
          </a:p>
          <a:p>
            <a:pPr algn="l" marL="698836" indent="-349418" lvl="1">
              <a:lnSpc>
                <a:spcPts val="4531"/>
              </a:lnSpc>
              <a:buFont typeface="Arial"/>
              <a:buChar char="•"/>
            </a:pPr>
            <a:r>
              <a:rPr lang="en-US" sz="323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Master Theorem helps solve these recurrences.</a:t>
            </a:r>
          </a:p>
          <a:p>
            <a:pPr algn="l" marL="698836" indent="-349418" lvl="1">
              <a:lnSpc>
                <a:spcPts val="4531"/>
              </a:lnSpc>
              <a:buFont typeface="Arial"/>
              <a:buChar char="•"/>
            </a:pPr>
            <a:r>
              <a:rPr lang="en-US" sz="323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It determines the algorithm's time complexity.</a:t>
            </a:r>
          </a:p>
          <a:p>
            <a:pPr algn="l" marL="698836" indent="-349418" lvl="1">
              <a:lnSpc>
                <a:spcPts val="4531"/>
              </a:lnSpc>
              <a:buFont typeface="Arial"/>
              <a:buChar char="•"/>
            </a:pPr>
            <a:r>
              <a:rPr lang="en-US" sz="323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This project analyzes T(n) = 5T(n/2) + n² using the Master Theorem.</a:t>
            </a:r>
          </a:p>
          <a:p>
            <a:pPr algn="l">
              <a:lnSpc>
                <a:spcPts val="453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106998" y="409545"/>
            <a:ext cx="798705" cy="1197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02"/>
              </a:lnSpc>
            </a:pPr>
            <a:r>
              <a:rPr lang="en-US" sz="6287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9058">
            <a:off x="12256020" y="-219839"/>
            <a:ext cx="10750098" cy="12447482"/>
          </a:xfrm>
          <a:custGeom>
            <a:avLst/>
            <a:gdLst/>
            <a:ahLst/>
            <a:cxnLst/>
            <a:rect r="r" b="b" t="t" l="l"/>
            <a:pathLst>
              <a:path h="12447482" w="10750098">
                <a:moveTo>
                  <a:pt x="0" y="0"/>
                </a:moveTo>
                <a:lnTo>
                  <a:pt x="10750098" y="0"/>
                </a:lnTo>
                <a:lnTo>
                  <a:pt x="10750098" y="12447482"/>
                </a:lnTo>
                <a:lnTo>
                  <a:pt x="0" y="12447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009650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0" y="6748170"/>
            <a:ext cx="7077660" cy="7077660"/>
          </a:xfrm>
          <a:custGeom>
            <a:avLst/>
            <a:gdLst/>
            <a:ahLst/>
            <a:cxnLst/>
            <a:rect r="r" b="b" t="t" l="l"/>
            <a:pathLst>
              <a:path h="7077660" w="7077660">
                <a:moveTo>
                  <a:pt x="0" y="0"/>
                </a:moveTo>
                <a:lnTo>
                  <a:pt x="7077660" y="0"/>
                </a:lnTo>
                <a:lnTo>
                  <a:pt x="7077660" y="7077660"/>
                </a:lnTo>
                <a:lnTo>
                  <a:pt x="0" y="7077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3728" y="1678842"/>
            <a:ext cx="12414781" cy="1432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86"/>
              </a:lnSpc>
            </a:pPr>
            <a:r>
              <a:rPr lang="en-US" b="true" sz="7562">
                <a:solidFill>
                  <a:srgbClr val="00325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06998" y="409545"/>
            <a:ext cx="798705" cy="1197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02"/>
              </a:lnSpc>
            </a:pPr>
            <a:r>
              <a:rPr lang="en-US" sz="6287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84760" y="3349435"/>
            <a:ext cx="12700502" cy="4613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8836" indent="-349418" lvl="1">
              <a:lnSpc>
                <a:spcPts val="4531"/>
              </a:lnSpc>
              <a:buFont typeface="Arial"/>
              <a:buChar char="•"/>
            </a:pPr>
            <a:r>
              <a:rPr lang="en-US" sz="323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Analyzing recurrence relations manually is time-consuming and error-prone.</a:t>
            </a:r>
          </a:p>
          <a:p>
            <a:pPr algn="l" marL="698836" indent="-349418" lvl="1">
              <a:lnSpc>
                <a:spcPts val="4531"/>
              </a:lnSpc>
              <a:buFont typeface="Arial"/>
              <a:buChar char="•"/>
            </a:pPr>
            <a:r>
              <a:rPr lang="en-US" sz="323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Identifying the correct Master Theorem case can be difficult for beginners.</a:t>
            </a:r>
          </a:p>
          <a:p>
            <a:pPr algn="l" marL="698836" indent="-349418" lvl="1">
              <a:lnSpc>
                <a:spcPts val="4531"/>
              </a:lnSpc>
              <a:buFont typeface="Arial"/>
              <a:buChar char="•"/>
            </a:pPr>
            <a:r>
              <a:rPr lang="en-US" sz="323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This project focuses on analyzing the recurrence T(n) = 5T(n/2) + n².</a:t>
            </a:r>
          </a:p>
          <a:p>
            <a:pPr algn="l" marL="698836" indent="-349418" lvl="1">
              <a:lnSpc>
                <a:spcPts val="4531"/>
              </a:lnSpc>
              <a:buFont typeface="Arial"/>
              <a:buChar char="•"/>
            </a:pPr>
            <a:r>
              <a:rPr lang="en-US" sz="323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objective is to apply the Master Theorem to determine its time complexity.</a:t>
            </a:r>
          </a:p>
          <a:p>
            <a:pPr algn="l">
              <a:lnSpc>
                <a:spcPts val="4531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9058">
            <a:off x="13282155" y="-120402"/>
            <a:ext cx="10750098" cy="12447482"/>
          </a:xfrm>
          <a:custGeom>
            <a:avLst/>
            <a:gdLst/>
            <a:ahLst/>
            <a:cxnLst/>
            <a:rect r="r" b="b" t="t" l="l"/>
            <a:pathLst>
              <a:path h="12447482" w="10750098">
                <a:moveTo>
                  <a:pt x="0" y="0"/>
                </a:moveTo>
                <a:lnTo>
                  <a:pt x="10750098" y="0"/>
                </a:lnTo>
                <a:lnTo>
                  <a:pt x="10750098" y="12447482"/>
                </a:lnTo>
                <a:lnTo>
                  <a:pt x="0" y="12447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009650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0" y="6748170"/>
            <a:ext cx="7077660" cy="7077660"/>
          </a:xfrm>
          <a:custGeom>
            <a:avLst/>
            <a:gdLst/>
            <a:ahLst/>
            <a:cxnLst/>
            <a:rect r="r" b="b" t="t" l="l"/>
            <a:pathLst>
              <a:path h="7077660" w="7077660">
                <a:moveTo>
                  <a:pt x="0" y="0"/>
                </a:moveTo>
                <a:lnTo>
                  <a:pt x="7077660" y="0"/>
                </a:lnTo>
                <a:lnTo>
                  <a:pt x="7077660" y="7077660"/>
                </a:lnTo>
                <a:lnTo>
                  <a:pt x="0" y="7077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98375" y="3589055"/>
            <a:ext cx="6783371" cy="4618759"/>
          </a:xfrm>
          <a:custGeom>
            <a:avLst/>
            <a:gdLst/>
            <a:ahLst/>
            <a:cxnLst/>
            <a:rect r="r" b="b" t="t" l="l"/>
            <a:pathLst>
              <a:path h="4618759" w="6783371">
                <a:moveTo>
                  <a:pt x="0" y="0"/>
                </a:moveTo>
                <a:lnTo>
                  <a:pt x="6783371" y="0"/>
                </a:lnTo>
                <a:lnTo>
                  <a:pt x="6783371" y="4618758"/>
                </a:lnTo>
                <a:lnTo>
                  <a:pt x="0" y="46187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98375" y="1833247"/>
            <a:ext cx="9686080" cy="932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7"/>
              </a:lnSpc>
            </a:pPr>
            <a:r>
              <a:rPr lang="en-US" b="true" sz="4890">
                <a:solidFill>
                  <a:srgbClr val="00325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ALGORITHM &amp;PSEUDO CODE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06998" y="409545"/>
            <a:ext cx="798705" cy="1197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02"/>
              </a:lnSpc>
            </a:pPr>
            <a:r>
              <a:rPr lang="en-US" sz="6287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3298103"/>
            <a:ext cx="5298375" cy="6121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2"/>
              </a:lnSpc>
            </a:pPr>
            <a:r>
              <a:rPr lang="en-US" sz="214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Algorithm MasterTheoremAnalysis()</a:t>
            </a:r>
          </a:p>
          <a:p>
            <a:pPr algn="l">
              <a:lnSpc>
                <a:spcPts val="3002"/>
              </a:lnSpc>
            </a:pPr>
            <a:r>
              <a:rPr lang="en-US" sz="214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Input: T(n) = 5T(n/2) + n²</a:t>
            </a:r>
          </a:p>
          <a:p>
            <a:pPr algn="l">
              <a:lnSpc>
                <a:spcPts val="3002"/>
              </a:lnSpc>
            </a:pPr>
            <a:r>
              <a:rPr lang="en-US" sz="214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Begin</a:t>
            </a:r>
          </a:p>
          <a:p>
            <a:pPr algn="l">
              <a:lnSpc>
                <a:spcPts val="3002"/>
              </a:lnSpc>
            </a:pPr>
            <a:r>
              <a:rPr lang="en-US" sz="214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a ← 5</a:t>
            </a:r>
          </a:p>
          <a:p>
            <a:pPr algn="l">
              <a:lnSpc>
                <a:spcPts val="3002"/>
              </a:lnSpc>
            </a:pPr>
            <a:r>
              <a:rPr lang="en-US" sz="214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b ← 2</a:t>
            </a:r>
          </a:p>
          <a:p>
            <a:pPr algn="l">
              <a:lnSpc>
                <a:spcPts val="3002"/>
              </a:lnSpc>
            </a:pPr>
            <a:r>
              <a:rPr lang="en-US" sz="214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f(n) ← n²</a:t>
            </a:r>
          </a:p>
          <a:p>
            <a:pPr algn="l">
              <a:lnSpc>
                <a:spcPts val="3002"/>
              </a:lnSpc>
            </a:pPr>
            <a:r>
              <a:rPr lang="en-US" sz="214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value ← log₂(5)</a:t>
            </a:r>
          </a:p>
          <a:p>
            <a:pPr algn="l">
              <a:lnSpc>
                <a:spcPts val="3002"/>
              </a:lnSpc>
            </a:pPr>
            <a:r>
              <a:rPr lang="en-US" sz="214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If f(n) &lt; n^value Then</a:t>
            </a:r>
          </a:p>
          <a:p>
            <a:pPr algn="l">
              <a:lnSpc>
                <a:spcPts val="3002"/>
              </a:lnSpc>
            </a:pPr>
            <a:r>
              <a:rPr lang="en-US" sz="214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Output "Case 1 applies"</a:t>
            </a:r>
          </a:p>
          <a:p>
            <a:pPr algn="l">
              <a:lnSpc>
                <a:spcPts val="3002"/>
              </a:lnSpc>
            </a:pPr>
            <a:r>
              <a:rPr lang="en-US" sz="214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Output "Time Complexity = Θ(n^2.322)"</a:t>
            </a:r>
          </a:p>
          <a:p>
            <a:pPr algn="l">
              <a:lnSpc>
                <a:spcPts val="3002"/>
              </a:lnSpc>
            </a:pPr>
            <a:r>
              <a:rPr lang="en-US" sz="214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Else If f(n) = n^value Then</a:t>
            </a:r>
          </a:p>
          <a:p>
            <a:pPr algn="l">
              <a:lnSpc>
                <a:spcPts val="3002"/>
              </a:lnSpc>
            </a:pPr>
            <a:r>
              <a:rPr lang="en-US" sz="214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Output "Case 2 applies"</a:t>
            </a:r>
          </a:p>
          <a:p>
            <a:pPr algn="l">
              <a:lnSpc>
                <a:spcPts val="3002"/>
              </a:lnSpc>
            </a:pPr>
            <a:r>
              <a:rPr lang="en-US" sz="214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Else</a:t>
            </a:r>
          </a:p>
          <a:p>
            <a:pPr algn="l">
              <a:lnSpc>
                <a:spcPts val="3002"/>
              </a:lnSpc>
            </a:pPr>
            <a:r>
              <a:rPr lang="en-US" sz="214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  Output "Case 3 applies"</a:t>
            </a:r>
          </a:p>
          <a:p>
            <a:pPr algn="l">
              <a:lnSpc>
                <a:spcPts val="3002"/>
              </a:lnSpc>
            </a:pPr>
            <a:r>
              <a:rPr lang="en-US" sz="214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End If</a:t>
            </a:r>
          </a:p>
          <a:p>
            <a:pPr algn="l">
              <a:lnSpc>
                <a:spcPts val="3002"/>
              </a:lnSpc>
              <a:spcBef>
                <a:spcPct val="0"/>
              </a:spcBef>
            </a:pPr>
            <a:r>
              <a:rPr lang="en-US" sz="214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9058">
            <a:off x="13282155" y="-120402"/>
            <a:ext cx="10750098" cy="12447482"/>
          </a:xfrm>
          <a:custGeom>
            <a:avLst/>
            <a:gdLst/>
            <a:ahLst/>
            <a:cxnLst/>
            <a:rect r="r" b="b" t="t" l="l"/>
            <a:pathLst>
              <a:path h="12447482" w="10750098">
                <a:moveTo>
                  <a:pt x="0" y="0"/>
                </a:moveTo>
                <a:lnTo>
                  <a:pt x="10750098" y="0"/>
                </a:lnTo>
                <a:lnTo>
                  <a:pt x="10750098" y="12447482"/>
                </a:lnTo>
                <a:lnTo>
                  <a:pt x="0" y="12447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009650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0" y="6748170"/>
            <a:ext cx="7077660" cy="7077660"/>
          </a:xfrm>
          <a:custGeom>
            <a:avLst/>
            <a:gdLst/>
            <a:ahLst/>
            <a:cxnLst/>
            <a:rect r="r" b="b" t="t" l="l"/>
            <a:pathLst>
              <a:path h="7077660" w="7077660">
                <a:moveTo>
                  <a:pt x="0" y="0"/>
                </a:moveTo>
                <a:lnTo>
                  <a:pt x="7077660" y="0"/>
                </a:lnTo>
                <a:lnTo>
                  <a:pt x="7077660" y="7077660"/>
                </a:lnTo>
                <a:lnTo>
                  <a:pt x="0" y="7077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62416" y="3297937"/>
            <a:ext cx="14415867" cy="4453711"/>
          </a:xfrm>
          <a:custGeom>
            <a:avLst/>
            <a:gdLst/>
            <a:ahLst/>
            <a:cxnLst/>
            <a:rect r="r" b="b" t="t" l="l"/>
            <a:pathLst>
              <a:path h="4453711" w="14415867">
                <a:moveTo>
                  <a:pt x="0" y="0"/>
                </a:moveTo>
                <a:lnTo>
                  <a:pt x="14415867" y="0"/>
                </a:lnTo>
                <a:lnTo>
                  <a:pt x="14415867" y="4453711"/>
                </a:lnTo>
                <a:lnTo>
                  <a:pt x="0" y="44537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9062" r="0" b="-6672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98375" y="1416701"/>
            <a:ext cx="9686080" cy="9321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47"/>
              </a:lnSpc>
            </a:pPr>
            <a:r>
              <a:rPr lang="en-US" b="true" sz="4890">
                <a:solidFill>
                  <a:srgbClr val="00325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FLOWCHART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07053" y="409545"/>
            <a:ext cx="798595" cy="2307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02"/>
              </a:lnSpc>
            </a:pPr>
            <a:r>
              <a:rPr lang="en-US" sz="6287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04</a:t>
            </a:r>
          </a:p>
          <a:p>
            <a:pPr algn="ctr">
              <a:lnSpc>
                <a:spcPts val="8802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009650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-3393157">
            <a:off x="12186685" y="-2133184"/>
            <a:ext cx="9373683" cy="10853738"/>
          </a:xfrm>
          <a:custGeom>
            <a:avLst/>
            <a:gdLst/>
            <a:ahLst/>
            <a:cxnLst/>
            <a:rect r="r" b="b" t="t" l="l"/>
            <a:pathLst>
              <a:path h="10853738" w="9373683">
                <a:moveTo>
                  <a:pt x="0" y="0"/>
                </a:moveTo>
                <a:lnTo>
                  <a:pt x="9373683" y="0"/>
                </a:lnTo>
                <a:lnTo>
                  <a:pt x="9373683" y="10853738"/>
                </a:lnTo>
                <a:lnTo>
                  <a:pt x="0" y="108537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889736">
            <a:off x="-1025801" y="7239427"/>
            <a:ext cx="7138119" cy="7138119"/>
          </a:xfrm>
          <a:custGeom>
            <a:avLst/>
            <a:gdLst/>
            <a:ahLst/>
            <a:cxnLst/>
            <a:rect r="r" b="b" t="t" l="l"/>
            <a:pathLst>
              <a:path h="7138119" w="7138119">
                <a:moveTo>
                  <a:pt x="0" y="0"/>
                </a:moveTo>
                <a:lnTo>
                  <a:pt x="7138119" y="0"/>
                </a:lnTo>
                <a:lnTo>
                  <a:pt x="7138119" y="7138120"/>
                </a:lnTo>
                <a:lnTo>
                  <a:pt x="0" y="71381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0035" y="2645423"/>
            <a:ext cx="6462215" cy="7073956"/>
          </a:xfrm>
          <a:custGeom>
            <a:avLst/>
            <a:gdLst/>
            <a:ahLst/>
            <a:cxnLst/>
            <a:rect r="r" b="b" t="t" l="l"/>
            <a:pathLst>
              <a:path h="7073956" w="6462215">
                <a:moveTo>
                  <a:pt x="0" y="0"/>
                </a:moveTo>
                <a:lnTo>
                  <a:pt x="6462215" y="0"/>
                </a:lnTo>
                <a:lnTo>
                  <a:pt x="6462215" y="7073956"/>
                </a:lnTo>
                <a:lnTo>
                  <a:pt x="0" y="70739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784326" y="3388373"/>
            <a:ext cx="5964037" cy="5163751"/>
          </a:xfrm>
          <a:custGeom>
            <a:avLst/>
            <a:gdLst/>
            <a:ahLst/>
            <a:cxnLst/>
            <a:rect r="r" b="b" t="t" l="l"/>
            <a:pathLst>
              <a:path h="5163751" w="5964037">
                <a:moveTo>
                  <a:pt x="0" y="0"/>
                </a:moveTo>
                <a:lnTo>
                  <a:pt x="5964036" y="0"/>
                </a:lnTo>
                <a:lnTo>
                  <a:pt x="5964036" y="5163750"/>
                </a:lnTo>
                <a:lnTo>
                  <a:pt x="0" y="51637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553761"/>
            <a:ext cx="12144725" cy="10916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56"/>
              </a:lnSpc>
            </a:pPr>
            <a:r>
              <a:rPr lang="en-US" b="true" sz="5754">
                <a:solidFill>
                  <a:srgbClr val="00325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IMPLEMENTATION &amp; OUTPUT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07053" y="409545"/>
            <a:ext cx="798595" cy="2307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02"/>
              </a:lnSpc>
            </a:pPr>
            <a:r>
              <a:rPr lang="en-US" sz="6287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05</a:t>
            </a:r>
          </a:p>
          <a:p>
            <a:pPr algn="ctr">
              <a:lnSpc>
                <a:spcPts val="8802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9058">
            <a:off x="11426115" y="-542359"/>
            <a:ext cx="10750098" cy="12447482"/>
          </a:xfrm>
          <a:custGeom>
            <a:avLst/>
            <a:gdLst/>
            <a:ahLst/>
            <a:cxnLst/>
            <a:rect r="r" b="b" t="t" l="l"/>
            <a:pathLst>
              <a:path h="12447482" w="10750098">
                <a:moveTo>
                  <a:pt x="0" y="0"/>
                </a:moveTo>
                <a:lnTo>
                  <a:pt x="10750098" y="0"/>
                </a:lnTo>
                <a:lnTo>
                  <a:pt x="10750098" y="12447482"/>
                </a:lnTo>
                <a:lnTo>
                  <a:pt x="0" y="12447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009650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0" y="6748170"/>
            <a:ext cx="7077660" cy="7077660"/>
          </a:xfrm>
          <a:custGeom>
            <a:avLst/>
            <a:gdLst/>
            <a:ahLst/>
            <a:cxnLst/>
            <a:rect r="r" b="b" t="t" l="l"/>
            <a:pathLst>
              <a:path h="7077660" w="7077660">
                <a:moveTo>
                  <a:pt x="0" y="0"/>
                </a:moveTo>
                <a:lnTo>
                  <a:pt x="7077660" y="0"/>
                </a:lnTo>
                <a:lnTo>
                  <a:pt x="7077660" y="7077660"/>
                </a:lnTo>
                <a:lnTo>
                  <a:pt x="0" y="7077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36366" y="2000894"/>
            <a:ext cx="7195463" cy="1548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4"/>
              </a:lnSpc>
            </a:pPr>
            <a:r>
              <a:rPr lang="en-US" b="true" sz="8074">
                <a:solidFill>
                  <a:srgbClr val="00325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73660" y="3839373"/>
            <a:ext cx="11366524" cy="4613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8836" indent="-349418" lvl="1">
              <a:lnSpc>
                <a:spcPts val="4531"/>
              </a:lnSpc>
              <a:buFont typeface="Arial"/>
              <a:buChar char="•"/>
            </a:pPr>
            <a:r>
              <a:rPr lang="en-US" sz="323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recurrence relation T(n) = 5T(n/2) + n² was successfully analyzed using the Master Theorem.</a:t>
            </a:r>
          </a:p>
          <a:p>
            <a:pPr algn="l" marL="698836" indent="-349418" lvl="1">
              <a:lnSpc>
                <a:spcPts val="4531"/>
              </a:lnSpc>
              <a:buFont typeface="Arial"/>
              <a:buChar char="•"/>
            </a:pPr>
            <a:r>
              <a:rPr lang="en-US" sz="323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By comparing f(n) = n² with n^log₂5 ≈ n²·³²², the recurrence satisfies Master Theorem Case 1.</a:t>
            </a:r>
          </a:p>
          <a:p>
            <a:pPr algn="l" marL="698836" indent="-349418" lvl="1">
              <a:lnSpc>
                <a:spcPts val="4531"/>
              </a:lnSpc>
              <a:buFont typeface="Arial"/>
              <a:buChar char="•"/>
            </a:pPr>
            <a:r>
              <a:rPr lang="en-US" sz="323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overall time complexity is Θ(n^2.322).</a:t>
            </a:r>
          </a:p>
          <a:p>
            <a:pPr algn="l" marL="698836" indent="-349418" lvl="1">
              <a:lnSpc>
                <a:spcPts val="4531"/>
              </a:lnSpc>
              <a:buFont typeface="Arial"/>
              <a:buChar char="•"/>
            </a:pPr>
            <a:r>
              <a:rPr lang="en-US" sz="323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analysis shows that the recursive subproblems dominate the total running time.</a:t>
            </a:r>
          </a:p>
          <a:p>
            <a:pPr algn="l">
              <a:lnSpc>
                <a:spcPts val="453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107053" y="409545"/>
            <a:ext cx="798595" cy="2307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02"/>
              </a:lnSpc>
            </a:pPr>
            <a:r>
              <a:rPr lang="en-US" sz="628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06</a:t>
            </a:r>
          </a:p>
          <a:p>
            <a:pPr algn="ctr">
              <a:lnSpc>
                <a:spcPts val="8802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9058">
            <a:off x="11426068" y="-1080241"/>
            <a:ext cx="10750098" cy="12447482"/>
          </a:xfrm>
          <a:custGeom>
            <a:avLst/>
            <a:gdLst/>
            <a:ahLst/>
            <a:cxnLst/>
            <a:rect r="r" b="b" t="t" l="l"/>
            <a:pathLst>
              <a:path h="12447482" w="10750098">
                <a:moveTo>
                  <a:pt x="0" y="0"/>
                </a:moveTo>
                <a:lnTo>
                  <a:pt x="10750098" y="0"/>
                </a:lnTo>
                <a:lnTo>
                  <a:pt x="10750098" y="12447482"/>
                </a:lnTo>
                <a:lnTo>
                  <a:pt x="0" y="12447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009650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0" y="6748170"/>
            <a:ext cx="7077660" cy="7077660"/>
          </a:xfrm>
          <a:custGeom>
            <a:avLst/>
            <a:gdLst/>
            <a:ahLst/>
            <a:cxnLst/>
            <a:rect r="r" b="b" t="t" l="l"/>
            <a:pathLst>
              <a:path h="7077660" w="7077660">
                <a:moveTo>
                  <a:pt x="0" y="0"/>
                </a:moveTo>
                <a:lnTo>
                  <a:pt x="7077660" y="0"/>
                </a:lnTo>
                <a:lnTo>
                  <a:pt x="7077660" y="7077660"/>
                </a:lnTo>
                <a:lnTo>
                  <a:pt x="0" y="7077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1025" y="1919779"/>
            <a:ext cx="6977067" cy="1548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4"/>
              </a:lnSpc>
            </a:pPr>
            <a:r>
              <a:rPr lang="en-US" b="true" sz="8074">
                <a:solidFill>
                  <a:srgbClr val="00325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REFERENCES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9497" y="3344214"/>
            <a:ext cx="12156326" cy="5185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8836" indent="-349418" lvl="1">
              <a:lnSpc>
                <a:spcPts val="4531"/>
              </a:lnSpc>
              <a:buFont typeface="Arial"/>
              <a:buChar char="•"/>
            </a:pPr>
            <a:r>
              <a:rPr lang="en-US" sz="323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Cormen, T. H., Leiserson, C. E., Rivest, R. L., &amp; Stein, C. (2022). Introduction to Algorithms (4th Edition). MIT Press.</a:t>
            </a:r>
          </a:p>
          <a:p>
            <a:pPr algn="l" marL="698836" indent="-349418" lvl="1">
              <a:lnSpc>
                <a:spcPts val="4531"/>
              </a:lnSpc>
              <a:buFont typeface="Arial"/>
              <a:buChar char="•"/>
            </a:pPr>
            <a:r>
              <a:rPr lang="en-US" sz="323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Kleinberg, J., &amp; Tardos, É. (2006). Algorithm Design. Pearson Education.</a:t>
            </a:r>
          </a:p>
          <a:p>
            <a:pPr algn="l" marL="698836" indent="-349418" lvl="1">
              <a:lnSpc>
                <a:spcPts val="4531"/>
              </a:lnSpc>
              <a:buFont typeface="Arial"/>
              <a:buChar char="•"/>
            </a:pPr>
            <a:r>
              <a:rPr lang="en-US" sz="323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Goodrich, M. T., Tamassia, R., &amp; Goldwasser, M. H. (2014). Data Structures and Algorithms in Python. Wiley.</a:t>
            </a:r>
          </a:p>
          <a:p>
            <a:pPr algn="l" marL="698836" indent="-349418" lvl="1">
              <a:lnSpc>
                <a:spcPts val="4531"/>
              </a:lnSpc>
              <a:buFont typeface="Arial"/>
              <a:buChar char="•"/>
            </a:pPr>
            <a:r>
              <a:rPr lang="en-US" sz="323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Weiss, M. A. (2013). Data Structures and Algorithm Analysis in C++ (4th Edition). Pearson.</a:t>
            </a:r>
          </a:p>
          <a:p>
            <a:pPr algn="l">
              <a:lnSpc>
                <a:spcPts val="453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116600" y="409545"/>
            <a:ext cx="798552" cy="2316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02"/>
              </a:lnSpc>
            </a:pPr>
            <a:r>
              <a:rPr lang="en-US" sz="6287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07</a:t>
            </a:r>
          </a:p>
          <a:p>
            <a:pPr algn="ctr">
              <a:lnSpc>
                <a:spcPts val="8802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9058">
            <a:off x="11884251" y="-770733"/>
            <a:ext cx="10750098" cy="12447482"/>
          </a:xfrm>
          <a:custGeom>
            <a:avLst/>
            <a:gdLst/>
            <a:ahLst/>
            <a:cxnLst/>
            <a:rect r="r" b="b" t="t" l="l"/>
            <a:pathLst>
              <a:path h="12447482" w="10750098">
                <a:moveTo>
                  <a:pt x="0" y="0"/>
                </a:moveTo>
                <a:lnTo>
                  <a:pt x="10750098" y="0"/>
                </a:lnTo>
                <a:lnTo>
                  <a:pt x="10750098" y="12447482"/>
                </a:lnTo>
                <a:lnTo>
                  <a:pt x="0" y="12447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0" y="1009650"/>
            <a:ext cx="976213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-10800000">
            <a:off x="0" y="6748170"/>
            <a:ext cx="7077660" cy="7077660"/>
          </a:xfrm>
          <a:custGeom>
            <a:avLst/>
            <a:gdLst/>
            <a:ahLst/>
            <a:cxnLst/>
            <a:rect r="r" b="b" t="t" l="l"/>
            <a:pathLst>
              <a:path h="7077660" w="7077660">
                <a:moveTo>
                  <a:pt x="0" y="0"/>
                </a:moveTo>
                <a:lnTo>
                  <a:pt x="7077660" y="0"/>
                </a:lnTo>
                <a:lnTo>
                  <a:pt x="7077660" y="7077660"/>
                </a:lnTo>
                <a:lnTo>
                  <a:pt x="0" y="7077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86433" y="3935675"/>
            <a:ext cx="8315135" cy="2006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39"/>
              </a:lnSpc>
            </a:pPr>
            <a:r>
              <a:rPr lang="en-US" b="true" sz="10528">
                <a:solidFill>
                  <a:srgbClr val="00325A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THANK YOU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107053" y="409545"/>
            <a:ext cx="798595" cy="2307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02"/>
              </a:lnSpc>
            </a:pPr>
            <a:r>
              <a:rPr lang="en-US" sz="628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08</a:t>
            </a:r>
          </a:p>
          <a:p>
            <a:pPr algn="ctr">
              <a:lnSpc>
                <a:spcPts val="8802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DAHP72xcpEs</dc:identifier>
  <dcterms:modified xsi:type="dcterms:W3CDTF">2011-08-01T06:04:30Z</dcterms:modified>
  <cp:revision>1</cp:revision>
  <dc:title>White Blue Modern Minimalist Project Presentation</dc:title>
</cp:coreProperties>
</file>